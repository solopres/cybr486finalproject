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80" r:id="rId4"/>
    <p:sldId id="276" r:id="rId5"/>
    <p:sldId id="279" r:id="rId6"/>
    <p:sldId id="277" r:id="rId7"/>
    <p:sldId id="278" r:id="rId8"/>
    <p:sldId id="281" r:id="rId9"/>
    <p:sldId id="284" r:id="rId10"/>
    <p:sldId id="285" r:id="rId11"/>
    <p:sldId id="287" r:id="rId12"/>
    <p:sldId id="275" r:id="rId13"/>
    <p:sldId id="282" r:id="rId14"/>
    <p:sldId id="288" r:id="rId15"/>
    <p:sldId id="289" r:id="rId16"/>
    <p:sldId id="290" r:id="rId17"/>
    <p:sldId id="291" r:id="rId1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97069-4804-3D6E-AE52-F74B87BE7DE8}" v="876" dt="2026-04-30T16:14:29.073"/>
    <p1510:client id="{2D6E4F37-D7C7-9984-6921-6B5558ABA04C}" v="2" dt="2026-04-30T08:57:50.366"/>
    <p1510:client id="{5931AC6E-2CD8-AB09-63E3-0F97E072DB14}" v="26" dt="2026-04-29T20:40:16.876"/>
    <p1510:client id="{73F84E9F-DA37-99D7-CC08-44FA98569BA5}" v="57" dt="2026-04-30T16:25:00.313"/>
    <p1510:client id="{AD37AF63-5479-F8EB-EC31-904403A43A47}" v="543" dt="2026-04-30T10:46:03.516"/>
    <p1510:client id="{EF4250DF-FE0A-A326-9E89-C67FE46A17CE}" v="741" dt="2026-05-01T02:13:29.7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80" y="3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9c3088991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9c3088991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9c3088991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d9c3088991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rot="10800000" flipH="1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" name="Google Shape;7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eometr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267233" y="814650"/>
            <a:ext cx="8605605" cy="175428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3600">
                <a:latin typeface="Times New Roman"/>
                <a:ea typeface="Times New Roman"/>
                <a:cs typeface="Times New Roman"/>
                <a:sym typeface="Times New Roman"/>
              </a:rPr>
              <a:t>CYBR-486: Machine Learning - Project </a:t>
            </a:r>
            <a:r>
              <a:rPr lang="en" sz="3600" dirty="0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lang="en-US" sz="3600">
              <a:latin typeface="Times New Roman"/>
              <a:ea typeface="Times New Roman"/>
              <a:cs typeface="Times New Roman"/>
            </a:endParaRPr>
          </a:p>
          <a:p>
            <a:r>
              <a:rPr lang="en" sz="2800">
                <a:latin typeface="Times New Roman"/>
                <a:ea typeface="Times New Roman"/>
                <a:cs typeface="Times New Roman"/>
                <a:sym typeface="Times New Roman"/>
              </a:rPr>
              <a:t>CNN, Nearest Neighbors, and Random Forest</a:t>
            </a:r>
            <a:endParaRPr sz="280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"/>
          </p:nvPr>
        </p:nvSpPr>
        <p:spPr>
          <a:xfrm>
            <a:off x="269550" y="2573038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indent="0"/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Seiya Genda, Nate Merz, and Solomon Preston</a:t>
            </a:r>
            <a:endParaRPr lang="en-US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Agenda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4"/>
          <p:cNvSpPr txBox="1">
            <a:spLocks noGrp="1"/>
          </p:cNvSpPr>
          <p:nvPr>
            <p:ph type="body" idx="1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CNN</a:t>
            </a:r>
            <a:endParaRPr lang="en-US">
              <a:latin typeface="Times New Roman"/>
              <a:ea typeface="Times New Roman"/>
              <a:cs typeface="Times New Roman"/>
            </a:endParaRPr>
          </a:p>
          <a:p>
            <a:pPr lvl="1">
              <a:lnSpc>
                <a:spcPct val="114999"/>
              </a:lnSpc>
              <a:buSzPts val="1800"/>
              <a:buFont typeface="Courier New"/>
              <a:buChar char="o"/>
            </a:pPr>
            <a:r>
              <a:rPr lang="en">
                <a:latin typeface="Times New Roman"/>
                <a:ea typeface="Times New Roman"/>
                <a:cs typeface="Times New Roman"/>
              </a:rPr>
              <a:t>Model</a:t>
            </a:r>
            <a:endParaRPr lang="en" dirty="0">
              <a:latin typeface="Times New Roman"/>
              <a:ea typeface="Times New Roman"/>
              <a:cs typeface="Times New Roman"/>
            </a:endParaRPr>
          </a:p>
          <a:p>
            <a:pPr lvl="1">
              <a:lnSpc>
                <a:spcPct val="114999"/>
              </a:lnSpc>
              <a:buFont typeface="Courier New"/>
              <a:buChar char="o"/>
            </a:pPr>
            <a:r>
              <a:rPr lang="en">
                <a:latin typeface="Times New Roman"/>
                <a:ea typeface="Times New Roman"/>
                <a:cs typeface="Times New Roman"/>
              </a:rPr>
              <a:t>MNIST Issues</a:t>
            </a:r>
            <a:endParaRPr lang="en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1">
              <a:lnSpc>
                <a:spcPct val="114999"/>
              </a:lnSpc>
              <a:buFont typeface="Courier New"/>
              <a:buChar char="o"/>
            </a:pPr>
            <a:endParaRPr lang="en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Font typeface="Arial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Nearest Neighbors</a:t>
            </a:r>
            <a:endParaRPr lang="en">
              <a:latin typeface="Times New Roman"/>
              <a:ea typeface="Times New Roman"/>
              <a:cs typeface="Times New Roman"/>
            </a:endParaRPr>
          </a:p>
          <a:p>
            <a:pPr lvl="1">
              <a:lnSpc>
                <a:spcPct val="114999"/>
              </a:lnSpc>
              <a:buSzPts val="1800"/>
              <a:buFont typeface="Courier New"/>
              <a:buChar char="o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Code Execution</a:t>
            </a:r>
            <a:endParaRPr>
              <a:latin typeface="Times New Roman"/>
              <a:ea typeface="Times New Roman"/>
              <a:cs typeface="Times New Roman"/>
            </a:endParaRPr>
          </a:p>
          <a:p>
            <a:pPr lvl="1">
              <a:lnSpc>
                <a:spcPct val="114999"/>
              </a:lnSpc>
              <a:buFont typeface="Courier New"/>
              <a:buChar char="o"/>
            </a:pPr>
            <a:r>
              <a:rPr lang="en">
                <a:latin typeface="Times New Roman"/>
                <a:ea typeface="Times New Roman"/>
                <a:cs typeface="Times New Roman"/>
              </a:rPr>
              <a:t>Findings</a:t>
            </a:r>
            <a:endParaRPr lang="en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Font typeface="Arial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</a:rPr>
              <a:t>Random Forest</a:t>
            </a:r>
            <a:endParaRPr lang="en" dirty="0">
              <a:latin typeface="Times New Roman"/>
              <a:ea typeface="Times New Roman"/>
              <a:cs typeface="Times New Roman"/>
            </a:endParaRPr>
          </a:p>
          <a:p>
            <a:pPr lvl="1">
              <a:lnSpc>
                <a:spcPct val="114999"/>
              </a:lnSpc>
              <a:buSzPts val="1800"/>
              <a:buFont typeface="Courier New"/>
              <a:buChar char="o"/>
            </a:pPr>
            <a:r>
              <a:rPr lang="en">
                <a:latin typeface="Times New Roman"/>
                <a:ea typeface="Times New Roman"/>
                <a:cs typeface="Times New Roman"/>
              </a:rPr>
              <a:t>Model</a:t>
            </a:r>
            <a:endParaRPr lang="en" dirty="0">
              <a:latin typeface="Times New Roman"/>
              <a:ea typeface="Times New Roman"/>
              <a:cs typeface="Times New Roman"/>
            </a:endParaRPr>
          </a:p>
          <a:p>
            <a:pPr lvl="1">
              <a:lnSpc>
                <a:spcPct val="114999"/>
              </a:lnSpc>
              <a:buSzPts val="1800"/>
              <a:buFont typeface="Courier New"/>
              <a:buChar char="o"/>
            </a:pPr>
            <a:r>
              <a:rPr lang="en">
                <a:latin typeface="Times New Roman"/>
                <a:ea typeface="Times New Roman"/>
                <a:cs typeface="Times New Roman"/>
              </a:rPr>
              <a:t>Challenges </a:t>
            </a:r>
            <a:endParaRPr lang="en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2FA2A-E38A-BCB6-9EBB-C4E270114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CNN</a:t>
            </a:r>
          </a:p>
        </p:txBody>
      </p:sp>
    </p:spTree>
    <p:extLst>
      <p:ext uri="{BB962C8B-B14F-4D97-AF65-F5344CB8AC3E}">
        <p14:creationId xmlns:p14="http://schemas.microsoft.com/office/powerpoint/2010/main" val="638987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59720-6109-0A50-02A1-DA72ABA34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Model Testing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82987-B649-8534-92CB-8A07DFA2D313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11700" y="1208300"/>
            <a:ext cx="4069800" cy="3264408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  <a:buClr>
                <a:srgbClr val="000000"/>
              </a:buClr>
              <a:buFont typeface="Arial"/>
              <a:buChar char="•"/>
            </a:pPr>
            <a:r>
              <a:rPr lang="en-US" b="0" i="0" u="none" strike="noStrike" cap="none">
                <a:solidFill>
                  <a:schemeClr val="dk1"/>
                </a:solidFill>
              </a:rPr>
              <a:t>Multiple models were trained at a time.</a:t>
            </a:r>
          </a:p>
          <a:p>
            <a:pPr>
              <a:spcAft>
                <a:spcPts val="600"/>
              </a:spcAft>
              <a:buClr>
                <a:srgbClr val="000000"/>
              </a:buClr>
              <a:buFont typeface="Arial"/>
              <a:buChar char="•"/>
            </a:pPr>
            <a:r>
              <a:rPr lang="en-US" b="0" i="0" u="none" strike="noStrike" cap="none">
                <a:solidFill>
                  <a:schemeClr val="dk1"/>
                </a:solidFill>
              </a:rPr>
              <a:t>For loops came in handy.</a:t>
            </a:r>
          </a:p>
          <a:p>
            <a:pPr>
              <a:spcAft>
                <a:spcPts val="600"/>
              </a:spcAft>
              <a:buClr>
                <a:srgbClr val="000000"/>
              </a:buClr>
              <a:buFont typeface="Arial"/>
              <a:buChar char="•"/>
            </a:pPr>
            <a:r>
              <a:rPr lang="en-US" b="0" i="0" u="none" strike="noStrike" cap="none">
                <a:solidFill>
                  <a:schemeClr val="dk1"/>
                </a:solidFill>
              </a:rPr>
              <a:t>Same padding allows for easy adjustment of filter/kernel size.</a:t>
            </a:r>
            <a:endParaRPr lang="en-US" b="0" i="0" u="none" strike="noStrike" cap="none" dirty="0">
              <a:solidFill>
                <a:schemeClr val="dk1"/>
              </a:solidFill>
            </a:endParaRPr>
          </a:p>
        </p:txBody>
      </p:sp>
      <p:pic>
        <p:nvPicPr>
          <p:cNvPr id="6" name="Picture 5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2C2F3D21-7A02-5F6F-C8D4-2C90C085F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974" y="1021773"/>
            <a:ext cx="4193598" cy="3394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528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8A8FF8C-0EC6-8990-B02A-1B1FBC5D4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00" y="985665"/>
            <a:ext cx="4045200" cy="782447"/>
          </a:xfrm>
        </p:spPr>
        <p:txBody>
          <a:bodyPr wrap="square" anchor="b">
            <a:normAutofit/>
          </a:bodyPr>
          <a:lstStyle/>
          <a:p>
            <a:r>
              <a:rPr lang="en-US" sz="3900"/>
              <a:t>Hyperparameters</a:t>
            </a:r>
          </a:p>
        </p:txBody>
      </p:sp>
      <p:pic>
        <p:nvPicPr>
          <p:cNvPr id="4" name="Picture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F895BCBC-34AF-8755-70E2-03E4EB995F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078" b="-474"/>
          <a:stretch>
            <a:fillRect/>
          </a:stretch>
        </p:blipFill>
        <p:spPr>
          <a:xfrm>
            <a:off x="4688306" y="1768893"/>
            <a:ext cx="4452119" cy="1598214"/>
          </a:xfrm>
          <a:prstGeom prst="rect">
            <a:avLst/>
          </a:prstGeom>
        </p:spPr>
      </p:pic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55EC696-9E40-01E2-E0AF-4EBA8261D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083" y="2573253"/>
            <a:ext cx="2421355" cy="1410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786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C03CF-3341-0BBC-C051-A2B08052B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/>
              <a:t>MNIST Processing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32AE0E-A9FE-1FC6-2CE9-4E433038AB6A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762500" y="1208300"/>
            <a:ext cx="4069800" cy="3264408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b="0" i="0" u="none" strike="noStrike" cap="none">
                <a:solidFill>
                  <a:schemeClr val="lt1"/>
                </a:solidFill>
              </a:rPr>
              <a:t>MNIST Format: 128x128 binary image.</a:t>
            </a:r>
          </a:p>
          <a:p>
            <a:pPr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b="0" i="0" u="none" strike="noStrike" cap="none">
                <a:solidFill>
                  <a:schemeClr val="lt1"/>
                </a:solidFill>
              </a:rPr>
              <a:t>Normalize image to 20x20, keep aspect ratio.</a:t>
            </a:r>
          </a:p>
          <a:p>
            <a:pPr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b="0" i="0" u="none" strike="noStrike" cap="none">
                <a:solidFill>
                  <a:schemeClr val="lt1"/>
                </a:solidFill>
              </a:rPr>
              <a:t>Pad image to 28x28.</a:t>
            </a:r>
          </a:p>
          <a:p>
            <a:pPr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b="0" i="0" u="none" strike="noStrike" cap="none">
                <a:solidFill>
                  <a:schemeClr val="lt1"/>
                </a:solidFill>
              </a:rPr>
              <a:t>Resultant class is called at the top of the torchvision transpose.</a:t>
            </a:r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9A2A3E6-8E18-B86C-E435-8D39B293F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997" y="1212273"/>
            <a:ext cx="3946482" cy="3524250"/>
          </a:xfrm>
          <a:prstGeom prst="rect">
            <a:avLst/>
          </a:prstGeom>
        </p:spPr>
      </p:pic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27B1C7D-D38A-DD8B-33CD-D7713E36E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813" y="3991408"/>
            <a:ext cx="364807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411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0D6A3-D48B-A551-EECE-2216F6A64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Final Model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D1C974-70DC-CBB9-6423-104137F6CE6D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11700" y="1208300"/>
            <a:ext cx="4069800" cy="3264408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b="0" i="0" u="none" strike="noStrike" cap="none">
                <a:solidFill>
                  <a:schemeClr val="dk1"/>
                </a:solidFill>
              </a:rPr>
              <a:t>Batch normalization stabilizes CNN  through recentering and rescaling images</a:t>
            </a:r>
          </a:p>
          <a:p>
            <a:pPr>
              <a:lnSpc>
                <a:spcPct val="114999"/>
              </a:lnSpc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>
                <a:solidFill>
                  <a:schemeClr val="dk1"/>
                </a:solidFill>
              </a:rPr>
              <a:t>Two convolution layers before pooling.</a:t>
            </a:r>
            <a:endParaRPr lang="en-US" b="0" i="0" u="none" strike="noStrike" cap="none" dirty="0">
              <a:solidFill>
                <a:schemeClr val="dk1"/>
              </a:solidFill>
            </a:endParaRPr>
          </a:p>
          <a:p>
            <a:pPr>
              <a:lnSpc>
                <a:spcPct val="114999"/>
              </a:lnSpc>
              <a:spcAft>
                <a:spcPts val="600"/>
              </a:spcAft>
              <a:buClr>
                <a:srgbClr val="000000"/>
              </a:buClr>
              <a:buFont typeface="Arial"/>
            </a:pPr>
            <a:endParaRPr lang="en-US" b="0" i="0" u="none" strike="noStrike" cap="none" dirty="0">
              <a:solidFill>
                <a:schemeClr val="dk1"/>
              </a:solidFill>
            </a:endParaRPr>
          </a:p>
          <a:p>
            <a:pPr>
              <a:spcAft>
                <a:spcPts val="600"/>
              </a:spcAft>
              <a:buClr>
                <a:srgbClr val="000000"/>
              </a:buClr>
              <a:buFont typeface="Arial"/>
            </a:pPr>
            <a:endParaRPr lang="en-US">
              <a:solidFill>
                <a:schemeClr val="dk1"/>
              </a:solidFill>
            </a:endParaRPr>
          </a:p>
          <a:p>
            <a:pPr>
              <a:spcAft>
                <a:spcPts val="600"/>
              </a:spcAft>
              <a:buClr>
                <a:srgbClr val="000000"/>
              </a:buClr>
              <a:buFont typeface="Arial"/>
            </a:pPr>
            <a:endParaRPr lang="en-US">
              <a:solidFill>
                <a:schemeClr val="dk1"/>
              </a:solidFill>
            </a:endParaRPr>
          </a:p>
        </p:txBody>
      </p:sp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01260DBA-8D0F-8DD0-F682-B2ED9E07C7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" t="428" b="-759"/>
          <a:stretch>
            <a:fillRect/>
          </a:stretch>
        </p:blipFill>
        <p:spPr>
          <a:xfrm>
            <a:off x="4573061" y="283991"/>
            <a:ext cx="4068743" cy="457963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CF28344-40FB-BD7F-2FDA-5C59AD57A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14" y="3973224"/>
            <a:ext cx="3657600" cy="504825"/>
          </a:xfrm>
          <a:prstGeom prst="rect">
            <a:avLst/>
          </a:prstGeom>
        </p:spPr>
      </p:pic>
      <p:pic>
        <p:nvPicPr>
          <p:cNvPr id="3" name="Picture 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FDFCE7B-4658-98DD-8C8E-382BA4A12D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44" y="3293303"/>
            <a:ext cx="3771900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039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181AE-EA17-A27D-076D-F17C9CF91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latin typeface="Times New Roman"/>
                <a:cs typeface="Times New Roman"/>
              </a:rPr>
              <a:t>Nearest Neighbors</a:t>
            </a:r>
          </a:p>
        </p:txBody>
      </p:sp>
    </p:spTree>
    <p:extLst>
      <p:ext uri="{BB962C8B-B14F-4D97-AF65-F5344CB8AC3E}">
        <p14:creationId xmlns:p14="http://schemas.microsoft.com/office/powerpoint/2010/main" val="3736337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92891-4B34-2CA5-87DD-C3EA403A2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rgbClr val="2A3990"/>
                </a:solidFill>
                <a:latin typeface="Times New Roman"/>
                <a:cs typeface="Times New Roman"/>
              </a:rPr>
              <a:t>Nearest Neighbors Class Overview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605856-3A2F-9DBA-8868-A026B632D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75595"/>
            <a:ext cx="4786800" cy="3293280"/>
          </a:xfrm>
        </p:spPr>
        <p:txBody>
          <a:bodyPr/>
          <a:lstStyle/>
          <a:p>
            <a:pPr>
              <a:lnSpc>
                <a:spcPct val="114999"/>
              </a:lnSpc>
              <a:buNone/>
            </a:pPr>
            <a:r>
              <a:rPr lang="en-US">
                <a:latin typeface="Times New Roman"/>
                <a:cs typeface="Times New Roman"/>
              </a:rPr>
              <a:t>- K-Nearest Neighbors (KNN) is a simple, instance-based algorithm</a:t>
            </a:r>
          </a:p>
          <a:p>
            <a:pPr>
              <a:lnSpc>
                <a:spcPct val="114999"/>
              </a:lnSpc>
              <a:buNone/>
            </a:pPr>
            <a:r>
              <a:rPr lang="en-US">
                <a:latin typeface="Times New Roman"/>
                <a:cs typeface="Times New Roman"/>
              </a:rPr>
              <a:t>- No training phase → stores all training data</a:t>
            </a:r>
          </a:p>
          <a:p>
            <a:pPr>
              <a:lnSpc>
                <a:spcPct val="114999"/>
              </a:lnSpc>
              <a:buNone/>
            </a:pPr>
            <a:r>
              <a:rPr lang="en-US">
                <a:latin typeface="Times New Roman"/>
                <a:cs typeface="Times New Roman"/>
              </a:rPr>
              <a:t>- Predicts label based on similarity (distance)</a:t>
            </a:r>
          </a:p>
          <a:p>
            <a:pPr>
              <a:lnSpc>
                <a:spcPct val="114999"/>
              </a:lnSpc>
              <a:buNone/>
            </a:pPr>
            <a:r>
              <a:rPr lang="en-US">
                <a:latin typeface="Times New Roman"/>
                <a:cs typeface="Times New Roman"/>
              </a:rPr>
              <a:t>- Key idea: similar inputs → similar outputs</a:t>
            </a:r>
          </a:p>
          <a:p>
            <a:pPr>
              <a:lnSpc>
                <a:spcPct val="114999"/>
              </a:lnSpc>
              <a:buNone/>
            </a:pPr>
            <a:r>
              <a:rPr lang="en-US">
                <a:latin typeface="Times New Roman"/>
                <a:cs typeface="Times New Roman"/>
              </a:rPr>
              <a:t>- Common distance metric: Euclidean distance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F15692-0702-22E2-D98A-CFF42259F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4420" y="1021080"/>
            <a:ext cx="3825240" cy="286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008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5779F-7F65-FA26-9F85-309A57FA4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10000"/>
            <a:ext cx="4261020" cy="607800"/>
          </a:xfrm>
        </p:spPr>
        <p:txBody>
          <a:bodyPr>
            <a:normAutofit fontScale="90000"/>
          </a:bodyPr>
          <a:lstStyle/>
          <a:p>
            <a:r>
              <a:rPr lang="en-US">
                <a:latin typeface="Times New Roman"/>
                <a:cs typeface="Times New Roman"/>
              </a:rPr>
              <a:t>Training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690A92-FCA7-5942-0102-66F1AD457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56040" y="1019780"/>
            <a:ext cx="4262652" cy="3290015"/>
          </a:xfrm>
        </p:spPr>
        <p:txBody>
          <a:bodyPr>
            <a:normAutofit/>
          </a:bodyPr>
          <a:lstStyle/>
          <a:p>
            <a:pPr>
              <a:lnSpc>
                <a:spcPct val="114999"/>
              </a:lnSpc>
              <a:buNone/>
            </a:pPr>
            <a:r>
              <a:rPr lang="en-US">
                <a:latin typeface="Times New Roman"/>
                <a:cs typeface="Times New Roman"/>
              </a:rPr>
              <a:t>- Store all MNIST images as reference data</a:t>
            </a:r>
          </a:p>
          <a:p>
            <a:pPr>
              <a:lnSpc>
                <a:spcPct val="114999"/>
              </a:lnSpc>
              <a:buNone/>
            </a:pPr>
            <a:r>
              <a:rPr lang="en-US">
                <a:latin typeface="Times New Roman"/>
                <a:cs typeface="Times New Roman"/>
              </a:rPr>
              <a:t>- Each image converted into a vector</a:t>
            </a:r>
          </a:p>
          <a:p>
            <a:pPr>
              <a:lnSpc>
                <a:spcPct val="114999"/>
              </a:lnSpc>
              <a:buNone/>
            </a:pPr>
            <a:r>
              <a:rPr lang="en-US">
                <a:latin typeface="Times New Roman"/>
                <a:cs typeface="Times New Roman"/>
              </a:rPr>
              <a:t>- Label attached to each training sample</a:t>
            </a:r>
          </a:p>
          <a:p>
            <a:pPr>
              <a:lnSpc>
                <a:spcPct val="114999"/>
              </a:lnSpc>
              <a:buNone/>
            </a:pPr>
            <a:r>
              <a:rPr lang="en-US">
                <a:latin typeface="Times New Roman"/>
                <a:cs typeface="Times New Roman"/>
              </a:rPr>
              <a:t>- No model fitting → direct comparison approach</a:t>
            </a:r>
          </a:p>
          <a:p>
            <a:pPr>
              <a:lnSpc>
                <a:spcPct val="114999"/>
              </a:lnSpc>
              <a:buNone/>
            </a:pPr>
            <a:r>
              <a:rPr lang="en-US">
                <a:latin typeface="Times New Roman"/>
                <a:cs typeface="Times New Roman"/>
              </a:rPr>
              <a:t>- Used to find nearest neighbors for prediction</a:t>
            </a:r>
          </a:p>
          <a:p>
            <a:pPr marL="114300" indent="0">
              <a:lnSpc>
                <a:spcPct val="114999"/>
              </a:lnSpc>
              <a:buNone/>
            </a:pPr>
            <a:endParaRPr lang="en-US" dirty="0">
              <a:latin typeface="Times New Roman"/>
              <a:cs typeface="Times New Roman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2951739-5CBA-80B6-1FDE-49DA0F15C0FE}"/>
              </a:ext>
            </a:extLst>
          </p:cNvPr>
          <p:cNvSpPr txBox="1">
            <a:spLocks/>
          </p:cNvSpPr>
          <p:nvPr/>
        </p:nvSpPr>
        <p:spPr>
          <a:xfrm>
            <a:off x="310067" y="1015971"/>
            <a:ext cx="4245780" cy="3285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>
              <a:lnSpc>
                <a:spcPct val="114999"/>
              </a:lnSpc>
              <a:buFont typeface="Roboto"/>
              <a:buNone/>
            </a:pPr>
            <a:r>
              <a:rPr lang="en-US">
                <a:latin typeface="Times New Roman"/>
                <a:cs typeface="Times New Roman"/>
              </a:rPr>
              <a:t>- Dataset of handwritten digits (0–9)</a:t>
            </a: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buNone/>
            </a:pPr>
            <a:r>
              <a:rPr lang="en-US">
                <a:latin typeface="Times New Roman"/>
                <a:cs typeface="Times New Roman"/>
              </a:rPr>
              <a:t>- Each image: 28 × 28 pixels </a:t>
            </a: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buFont typeface="Roboto"/>
              <a:buNone/>
            </a:pPr>
            <a:r>
              <a:rPr lang="en-US">
                <a:latin typeface="Times New Roman"/>
                <a:cs typeface="Times New Roman"/>
              </a:rPr>
              <a:t>- Large dataset used for training models</a:t>
            </a: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buFont typeface="Roboto"/>
              <a:buNone/>
            </a:pPr>
            <a:r>
              <a:rPr lang="en-US">
                <a:latin typeface="Times New Roman"/>
                <a:cs typeface="Times New Roman"/>
              </a:rPr>
              <a:t>- Standard benchmark for image classification</a:t>
            </a:r>
            <a:endParaRPr lang="en-US" dirty="0">
              <a:latin typeface="Times New Roman"/>
              <a:cs typeface="Times New Roman"/>
            </a:endParaRPr>
          </a:p>
          <a:p>
            <a:pPr marL="114300" indent="0">
              <a:lnSpc>
                <a:spcPct val="114999"/>
              </a:lnSpc>
              <a:buFont typeface="Roboto"/>
              <a:buNone/>
            </a:pPr>
            <a:r>
              <a:rPr lang="en-US" dirty="0">
                <a:latin typeface="Times New Roman"/>
                <a:cs typeface="Times New Roman"/>
              </a:rPr>
              <a:t>- Provides labeled examples for comparison</a:t>
            </a:r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732A347-ED0D-3BF2-2AA0-AD01B883FBA4}"/>
              </a:ext>
            </a:extLst>
          </p:cNvPr>
          <p:cNvSpPr txBox="1">
            <a:spLocks/>
          </p:cNvSpPr>
          <p:nvPr/>
        </p:nvSpPr>
        <p:spPr>
          <a:xfrm>
            <a:off x="4571280" y="410000"/>
            <a:ext cx="263796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>
                <a:latin typeface="Times New Roman"/>
                <a:cs typeface="Times New Roman"/>
              </a:rPr>
              <a:t>MNIST Data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702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0750D-07F6-2195-1649-B56A061BB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31129-2088-153B-3BF7-2EA34D1A9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244" y="280460"/>
            <a:ext cx="8719264" cy="615420"/>
          </a:xfrm>
        </p:spPr>
        <p:txBody>
          <a:bodyPr>
            <a:normAutofit fontScale="90000"/>
          </a:bodyPr>
          <a:lstStyle/>
          <a:p>
            <a:r>
              <a:rPr lang="en-US">
                <a:latin typeface="Times New Roman"/>
                <a:cs typeface="Times New Roman"/>
              </a:rPr>
              <a:t>Hyperparameter tuning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31FA00-60CC-F291-4338-453D4D25E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2244" y="789003"/>
            <a:ext cx="4255032" cy="4074875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  <a:buNone/>
            </a:pPr>
            <a:r>
              <a:rPr lang="en-US" sz="1400">
                <a:latin typeface="Times New Roman"/>
                <a:cs typeface="Times New Roman"/>
              </a:rPr>
              <a:t>- Hyperparameter tuning = choosing the best parameter for a model</a:t>
            </a:r>
            <a:endParaRPr lang="en-US" sz="1400" dirty="0"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buNone/>
            </a:pPr>
            <a:r>
              <a:rPr lang="en-US" sz="1400" dirty="0">
                <a:latin typeface="Times New Roman"/>
                <a:cs typeface="Times New Roman"/>
              </a:rPr>
              <a:t>- In KNN, K determines how many neighbors are used</a:t>
            </a:r>
            <a:br>
              <a:rPr lang="en-US" sz="1400" dirty="0">
                <a:latin typeface="Times New Roman"/>
                <a:cs typeface="Times New Roman"/>
              </a:rPr>
            </a:br>
            <a:endParaRPr lang="en-US" sz="1400"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buNone/>
            </a:pPr>
            <a:r>
              <a:rPr lang="en-US" sz="1400">
                <a:latin typeface="Times New Roman"/>
                <a:cs typeface="Times New Roman"/>
              </a:rPr>
              <a:t>Process:</a:t>
            </a:r>
          </a:p>
          <a:p>
            <a:pPr>
              <a:lnSpc>
                <a:spcPct val="114999"/>
              </a:lnSpc>
              <a:buNone/>
            </a:pPr>
            <a:r>
              <a:rPr lang="en-US" sz="1400">
                <a:latin typeface="Times New Roman"/>
                <a:cs typeface="Times New Roman"/>
              </a:rPr>
              <a:t> - Try multiple K values (e.g., 1–15)</a:t>
            </a:r>
          </a:p>
          <a:p>
            <a:pPr>
              <a:lnSpc>
                <a:spcPct val="114999"/>
              </a:lnSpc>
              <a:buNone/>
            </a:pPr>
            <a:r>
              <a:rPr lang="en-US" sz="1400">
                <a:latin typeface="Times New Roman"/>
                <a:cs typeface="Times New Roman"/>
              </a:rPr>
              <a:t> - Evaluate each using validation data</a:t>
            </a:r>
          </a:p>
          <a:p>
            <a:pPr>
              <a:lnSpc>
                <a:spcPct val="114999"/>
              </a:lnSpc>
              <a:buNone/>
            </a:pPr>
            <a:r>
              <a:rPr lang="en-US" sz="1400">
                <a:latin typeface="Times New Roman"/>
                <a:cs typeface="Times New Roman"/>
              </a:rPr>
              <a:t> - Select the K with highest accuracy</a:t>
            </a:r>
          </a:p>
          <a:p>
            <a:pPr>
              <a:lnSpc>
                <a:spcPct val="114999"/>
              </a:lnSpc>
              <a:buNone/>
            </a:pPr>
            <a:endParaRPr lang="en-US" sz="1400" dirty="0"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buNone/>
            </a:pPr>
            <a:r>
              <a:rPr lang="en-US" sz="1400">
                <a:latin typeface="Times New Roman"/>
                <a:cs typeface="Times New Roman"/>
              </a:rPr>
              <a:t>Key Insight:</a:t>
            </a:r>
          </a:p>
          <a:p>
            <a:pPr>
              <a:lnSpc>
                <a:spcPct val="114999"/>
              </a:lnSpc>
              <a:buNone/>
            </a:pPr>
            <a:r>
              <a:rPr lang="en-US" sz="1400">
                <a:latin typeface="Times New Roman"/>
                <a:cs typeface="Times New Roman"/>
              </a:rPr>
              <a:t> - Small K → sensitive to noise</a:t>
            </a:r>
          </a:p>
          <a:p>
            <a:pPr>
              <a:lnSpc>
                <a:spcPct val="114999"/>
              </a:lnSpc>
              <a:buNone/>
            </a:pPr>
            <a:r>
              <a:rPr lang="en-US" sz="1400">
                <a:latin typeface="Times New Roman"/>
                <a:cs typeface="Times New Roman"/>
              </a:rPr>
              <a:t> - Large K → more stable but less precise</a:t>
            </a:r>
          </a:p>
          <a:p>
            <a:pPr>
              <a:lnSpc>
                <a:spcPct val="114999"/>
              </a:lnSpc>
              <a:buNone/>
            </a:pPr>
            <a:endParaRPr lang="en-US" sz="1400" dirty="0">
              <a:latin typeface="Times New Roman"/>
              <a:cs typeface="Times New Roman"/>
            </a:endParaRPr>
          </a:p>
          <a:p>
            <a:pPr>
              <a:lnSpc>
                <a:spcPct val="114999"/>
              </a:lnSpc>
              <a:buNone/>
            </a:pPr>
            <a:r>
              <a:rPr lang="en-US" sz="1400">
                <a:latin typeface="Times New Roman"/>
                <a:cs typeface="Times New Roman"/>
              </a:rPr>
              <a:t>Result:</a:t>
            </a:r>
          </a:p>
          <a:p>
            <a:pPr>
              <a:lnSpc>
                <a:spcPct val="114999"/>
              </a:lnSpc>
              <a:buNone/>
            </a:pPr>
            <a:r>
              <a:rPr lang="en-US" sz="1400">
                <a:latin typeface="Times New Roman"/>
                <a:cs typeface="Times New Roman"/>
              </a:rPr>
              <a:t> → Optimal K improves prediction accuracy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78D4E5-45D0-193F-9F80-217D0E088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0845" y="2418399"/>
            <a:ext cx="4453618" cy="13811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42963F-6C2E-6561-8761-46C82C7D8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9822" y="1026116"/>
            <a:ext cx="4463143" cy="12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516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Times New Roman"/>
                <a:cs typeface="Times New Roman"/>
              </a:rPr>
              <a:t>Result</a:t>
            </a:r>
          </a:p>
        </p:txBody>
      </p:sp>
      <p:sp>
        <p:nvSpPr>
          <p:cNvPr id="218" name="Google Shape;218;p32"/>
          <p:cNvSpPr txBox="1">
            <a:spLocks noGrp="1"/>
          </p:cNvSpPr>
          <p:nvPr>
            <p:ph type="body" idx="4294967295"/>
          </p:nvPr>
        </p:nvSpPr>
        <p:spPr>
          <a:xfrm>
            <a:off x="311700" y="1208300"/>
            <a:ext cx="4069800" cy="3264408"/>
          </a:xfrm>
        </p:spPr>
        <p:txBody>
          <a:bodyPr spcFirstLastPara="1" lIns="91425" tIns="91425" rIns="91425" bIns="91425" anchor="t" anchorCtr="0">
            <a:norm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b="0" i="0" u="none" strike="noStrike" cap="none">
                <a:solidFill>
                  <a:schemeClr val="lt1"/>
                </a:solidFill>
                <a:latin typeface="Times New Roman"/>
                <a:cs typeface="Times New Roman"/>
              </a:rPr>
              <a:t>- Input image compared with training data</a:t>
            </a:r>
            <a:endParaRPr lang="en-US" b="0" i="0" u="none" strike="noStrike" cap="none" dirty="0">
              <a:solidFill>
                <a:schemeClr val="lt1"/>
              </a:solidFill>
              <a:latin typeface="Times New Roman"/>
              <a:cs typeface="Times New Roman"/>
            </a:endParaRPr>
          </a:p>
          <a:p>
            <a:pPr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b="0" i="0" u="none" strike="noStrike" cap="none">
                <a:solidFill>
                  <a:schemeClr val="lt1"/>
                </a:solidFill>
                <a:latin typeface="Times New Roman"/>
                <a:cs typeface="Times New Roman"/>
              </a:rPr>
              <a:t>- K closest samples selected</a:t>
            </a:r>
            <a:endParaRPr lang="en-US" b="0" i="0" u="none" strike="noStrike" cap="none" dirty="0">
              <a:solidFill>
                <a:schemeClr val="lt1"/>
              </a:solidFill>
              <a:latin typeface="Times New Roman"/>
              <a:cs typeface="Times New Roman"/>
            </a:endParaRPr>
          </a:p>
          <a:p>
            <a:pPr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b="0" i="0" u="none" strike="noStrike" cap="none" dirty="0">
                <a:solidFill>
                  <a:schemeClr val="lt1"/>
                </a:solidFill>
                <a:latin typeface="Times New Roman"/>
                <a:cs typeface="Times New Roman"/>
              </a:rPr>
              <a:t>- Majority vote determines predicted label</a:t>
            </a:r>
          </a:p>
          <a:p>
            <a:pPr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b="0" i="0" u="none" strike="noStrike" cap="none">
                <a:solidFill>
                  <a:schemeClr val="lt1"/>
                </a:solidFill>
                <a:latin typeface="Times New Roman"/>
                <a:cs typeface="Times New Roman"/>
              </a:rPr>
              <a:t>- Accuracy depends on preprocessing and K value</a:t>
            </a:r>
            <a:endParaRPr lang="en-US" b="0" i="0" u="none" strike="noStrike" cap="none" dirty="0">
              <a:solidFill>
                <a:schemeClr val="lt1"/>
              </a:solidFill>
              <a:latin typeface="Times New Roman"/>
              <a:cs typeface="Times New Roman"/>
            </a:endParaRPr>
          </a:p>
          <a:p>
            <a:pPr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r>
              <a:rPr lang="en-US" b="0" i="0" u="none" strike="noStrike" cap="none">
                <a:solidFill>
                  <a:schemeClr val="lt1"/>
                </a:solidFill>
                <a:latin typeface="Times New Roman"/>
                <a:cs typeface="Times New Roman"/>
              </a:rPr>
              <a:t>- Target performance: high accuracy (e.g., 95%+)</a:t>
            </a:r>
            <a:endParaRPr lang="en-US" b="0" i="0" u="none" strike="noStrike" cap="none" dirty="0">
              <a:solidFill>
                <a:schemeClr val="lt1"/>
              </a:solidFill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882AC1-DECC-9D7B-10DB-527F5F84B5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669" r="5" b="5"/>
          <a:stretch>
            <a:fillRect/>
          </a:stretch>
        </p:blipFill>
        <p:spPr>
          <a:xfrm>
            <a:off x="4762500" y="146943"/>
            <a:ext cx="2877815" cy="2309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2112E8-05CA-B30D-60C0-FCC47FFD5B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0" y="2452688"/>
            <a:ext cx="3680460" cy="25393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D2B3E-A5B8-FAB7-DBB9-76EC50CC4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86933-F6A2-40B2-4CB3-B564B5CCB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Random Forest</a:t>
            </a:r>
          </a:p>
        </p:txBody>
      </p:sp>
    </p:spTree>
    <p:extLst>
      <p:ext uri="{BB962C8B-B14F-4D97-AF65-F5344CB8AC3E}">
        <p14:creationId xmlns:p14="http://schemas.microsoft.com/office/powerpoint/2010/main" val="3227442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A1D36-9135-EA46-9194-3262A5227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10000"/>
            <a:ext cx="8520600" cy="6078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Model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DB0CD-9317-BFB7-BE7D-606D8C1A7686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11700" y="1208300"/>
            <a:ext cx="4069800" cy="3264408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b="0" i="0" u="none" strike="noStrike" cap="none">
                <a:solidFill>
                  <a:schemeClr val="dk1"/>
                </a:solidFill>
              </a:rPr>
              <a:t>Trained and tested on hand drawn images and MNIST images. </a:t>
            </a:r>
          </a:p>
          <a:p>
            <a:pPr>
              <a:spcAft>
                <a:spcPts val="600"/>
              </a:spcAft>
              <a:buClr>
                <a:srgbClr val="000000"/>
              </a:buClr>
              <a:buFont typeface="Arial"/>
            </a:pPr>
            <a:r>
              <a:rPr lang="en-US" b="0" i="0" u="none" strike="noStrike" cap="none">
                <a:solidFill>
                  <a:schemeClr val="dk1"/>
                </a:solidFill>
              </a:rPr>
              <a:t>Hand drawn images are preprocessed to match the same format as MNIST images.</a:t>
            </a:r>
          </a:p>
          <a:p>
            <a:pPr>
              <a:lnSpc>
                <a:spcPct val="114999"/>
              </a:lnSpc>
              <a:spcAft>
                <a:spcPts val="600"/>
              </a:spcAft>
              <a:buClr>
                <a:srgbClr val="000000"/>
              </a:buClr>
              <a:buSzPts val="1800"/>
              <a:buFont typeface="Arial"/>
              <a:buChar char="●"/>
            </a:pPr>
            <a:endParaRPr lang="en-US" b="0" i="0" u="none" strike="noStrike" cap="none" dirty="0">
              <a:solidFill>
                <a:schemeClr val="dk1"/>
              </a:solidFill>
            </a:endParaRPr>
          </a:p>
          <a:p>
            <a:pPr>
              <a:spcAft>
                <a:spcPts val="600"/>
              </a:spcAft>
              <a:buClr>
                <a:srgbClr val="000000"/>
              </a:buClr>
              <a:buFont typeface="Arial"/>
            </a:pPr>
            <a:endParaRPr lang="en-US" b="0" i="0" u="none" strike="noStrike" cap="none">
              <a:solidFill>
                <a:schemeClr val="dk1"/>
              </a:solidFill>
            </a:endParaRPr>
          </a:p>
          <a:p>
            <a:pPr>
              <a:spcAft>
                <a:spcPts val="600"/>
              </a:spcAft>
              <a:buClr>
                <a:srgbClr val="000000"/>
              </a:buClr>
              <a:buFont typeface="Arial"/>
            </a:pPr>
            <a:endParaRPr lang="en-US">
              <a:solidFill>
                <a:schemeClr val="dk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3A9A46-4255-EE1F-DDAA-A5351CF73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631767"/>
            <a:ext cx="4213859" cy="3425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431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B2077-7B63-9B24-4EA3-02A77143D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Model Accuracy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82F678-875A-7933-85CF-90466B9C5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262224"/>
            <a:ext cx="3808421" cy="3306651"/>
          </a:xfrm>
        </p:spPr>
        <p:txBody>
          <a:bodyPr/>
          <a:lstStyle/>
          <a:p>
            <a:r>
              <a:rPr lang="en-US" dirty="0"/>
              <a:t>Much more accurate on MNIST images with a 96-97% accuracy.</a:t>
            </a:r>
          </a:p>
          <a:p>
            <a:pPr>
              <a:lnSpc>
                <a:spcPct val="114999"/>
              </a:lnSpc>
            </a:pPr>
            <a:r>
              <a:rPr lang="en-US"/>
              <a:t>Hand drawn images ranged from 70-76% accuracy. </a:t>
            </a:r>
            <a:endParaRPr lang="en-US" dirty="0"/>
          </a:p>
          <a:p>
            <a:pPr lvl="1">
              <a:lnSpc>
                <a:spcPct val="114999"/>
              </a:lnSpc>
              <a:buSzPts val="1800"/>
            </a:pPr>
            <a:r>
              <a:rPr lang="en-US"/>
              <a:t>Tested best on hand drawn images when little were used for training and most were used for testing (140 total) </a:t>
            </a:r>
            <a:endParaRPr lang="en-US" dirty="0"/>
          </a:p>
          <a:p>
            <a:pPr>
              <a:lnSpc>
                <a:spcPct val="114999"/>
              </a:lnSpc>
            </a:pPr>
            <a:endParaRPr lang="en-US" dirty="0"/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C34853A-AF11-D205-A9D7-B00538D8C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786" y="2915459"/>
            <a:ext cx="4695825" cy="714375"/>
          </a:xfrm>
          <a:prstGeom prst="rect">
            <a:avLst/>
          </a:prstGeom>
        </p:spPr>
      </p:pic>
      <p:pic>
        <p:nvPicPr>
          <p:cNvPr id="5" name="Picture 4" descr="A black background with orange text&#10;&#10;AI-generated content may be incorrect.">
            <a:extLst>
              <a:ext uri="{FF2B5EF4-FFF2-40B4-BE49-F238E27FC236}">
                <a16:creationId xmlns:a16="http://schemas.microsoft.com/office/drawing/2014/main" id="{FFFB8D86-0EA0-5725-9189-0CE3630C0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63" y="4034364"/>
            <a:ext cx="8831293" cy="38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01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EE64F-0A31-DF08-DF62-E87B2AB4A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Model Accuracy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1C6344-BCAC-86CC-4A52-3D8089575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Changed values for number of estimators, max depth, and min </a:t>
            </a:r>
            <a:r>
              <a:rPr lang="en-US" dirty="0" err="1"/>
              <a:t>leafs</a:t>
            </a:r>
            <a:r>
              <a:rPr lang="en-US" dirty="0"/>
              <a:t> to see if the results would differ. </a:t>
            </a:r>
          </a:p>
          <a:p>
            <a:pPr lvl="1">
              <a:lnSpc>
                <a:spcPct val="114999"/>
              </a:lnSpc>
            </a:pPr>
            <a:r>
              <a:rPr lang="en-US"/>
              <a:t>Still ended up doing about the same. </a:t>
            </a:r>
          </a:p>
          <a:p>
            <a:pPr lvl="1">
              <a:lnSpc>
                <a:spcPct val="114999"/>
              </a:lnSpc>
            </a:pPr>
            <a:r>
              <a:rPr lang="en-US" dirty="0"/>
              <a:t>The main change that decreased accuracy was decreasing the test size of the hand drawn </a:t>
            </a:r>
            <a:r>
              <a:rPr lang="en-US"/>
              <a:t>images, when using 126 hand drawn images to test we got 76% and MNIST was a 97%</a:t>
            </a:r>
          </a:p>
          <a:p>
            <a:pPr lvl="1">
              <a:lnSpc>
                <a:spcPct val="114999"/>
              </a:lnSpc>
            </a:pPr>
            <a:r>
              <a:rPr lang="en-US" dirty="0"/>
              <a:t>When using less hand drawn images for testing and more for training the </a:t>
            </a:r>
            <a:r>
              <a:rPr lang="en-US"/>
              <a:t>accuracy of the hand drawn images decreased to 70%, while the MNIST accuracy stayed at 97%.</a:t>
            </a:r>
          </a:p>
        </p:txBody>
      </p:sp>
    </p:spTree>
    <p:extLst>
      <p:ext uri="{BB962C8B-B14F-4D97-AF65-F5344CB8AC3E}">
        <p14:creationId xmlns:p14="http://schemas.microsoft.com/office/powerpoint/2010/main" val="2580978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3DC83-2696-706E-239F-4B17E83A5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Challenges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E80E2-7209-C88B-1D88-50D08DD602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Overall the main problem I had was fine tuning the model, I experimented with multiple different combinations of max depth, estimators, amount of testing data for both MNIST and hand drawn images but the hand drawn images accuracy capped at 76%</a:t>
            </a:r>
          </a:p>
          <a:p>
            <a:pPr>
              <a:lnSpc>
                <a:spcPct val="114999"/>
              </a:lnSpc>
            </a:pPr>
            <a:r>
              <a:rPr lang="en-US" dirty="0"/>
              <a:t>There was documentation online about augmenting the training sets but I was not quite sure </a:t>
            </a:r>
            <a:r>
              <a:rPr lang="en-US"/>
              <a:t>how to implement that. </a:t>
            </a:r>
          </a:p>
          <a:p>
            <a:pPr>
              <a:lnSpc>
                <a:spcPct val="114999"/>
              </a:lnSpc>
            </a:pPr>
            <a:r>
              <a:rPr lang="en-US" dirty="0"/>
              <a:t>If I could do it again I would most likely choose a different model to work with. </a:t>
            </a:r>
          </a:p>
        </p:txBody>
      </p:sp>
    </p:spTree>
    <p:extLst>
      <p:ext uri="{BB962C8B-B14F-4D97-AF65-F5344CB8AC3E}">
        <p14:creationId xmlns:p14="http://schemas.microsoft.com/office/powerpoint/2010/main" val="304110057"/>
      </p:ext>
    </p:extLst>
  </p:cSld>
  <p:clrMapOvr>
    <a:masterClrMapping/>
  </p:clrMapOvr>
</p:sld>
</file>

<file path=ppt/theme/theme1.xml><?xml version="1.0" encoding="utf-8"?>
<a:theme xmlns:a="http://schemas.openxmlformats.org/drawingml/2006/main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628</Words>
  <Application>Microsoft Office PowerPoint</Application>
  <PresentationFormat>On-screen Show (16:9)</PresentationFormat>
  <Paragraphs>86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Roboto</vt:lpstr>
      <vt:lpstr>Arial</vt:lpstr>
      <vt:lpstr>Courier New</vt:lpstr>
      <vt:lpstr>Times New Roman</vt:lpstr>
      <vt:lpstr>Geometric</vt:lpstr>
      <vt:lpstr>CYBR-486: Machine Learning - Project 4 CNN, Nearest Neighbors, and Random Forest</vt:lpstr>
      <vt:lpstr>Agenda</vt:lpstr>
      <vt:lpstr>CNN</vt:lpstr>
      <vt:lpstr>Model Testing</vt:lpstr>
      <vt:lpstr>Hyperparameters</vt:lpstr>
      <vt:lpstr>MNIST Processing</vt:lpstr>
      <vt:lpstr>Final Model</vt:lpstr>
      <vt:lpstr>Nearest Neighbors</vt:lpstr>
      <vt:lpstr>Nearest Neighbors Class Overview</vt:lpstr>
      <vt:lpstr>Training Data</vt:lpstr>
      <vt:lpstr>Hyperparameter tuning</vt:lpstr>
      <vt:lpstr>Result</vt:lpstr>
      <vt:lpstr>Random Forest</vt:lpstr>
      <vt:lpstr>Model</vt:lpstr>
      <vt:lpstr>Model Accuracy</vt:lpstr>
      <vt:lpstr>Model Accuracy</vt:lpstr>
      <vt:lpstr>Challenges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Nate Merz</cp:lastModifiedBy>
  <cp:revision>621</cp:revision>
  <dcterms:modified xsi:type="dcterms:W3CDTF">2026-05-01T21:56:55Z</dcterms:modified>
</cp:coreProperties>
</file>